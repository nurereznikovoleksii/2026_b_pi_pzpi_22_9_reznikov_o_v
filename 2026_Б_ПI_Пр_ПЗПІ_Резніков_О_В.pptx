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</p:sldIdLst>
  <p:sldSz cx="16256000" cy="9144000"/>
  <p:notesSz cx="9144000" cy="16256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6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309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27788D-7E3F-4E25-81EA-1A02123E2D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30DC6-F4E7-490B-B9AD-06B5A6C874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4697A-1225-401E-89E8-B5BDB4431E67}" type="datetimeFigureOut">
              <a:rPr lang="uk-UA" smtClean="0"/>
              <a:t>13.07.2026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0DD45-239D-4DAC-8D81-DC8C15F8BB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27B0B-B7B1-4A1C-995B-A3988681A7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00666-3090-4DD5-883A-86D19718812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8358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8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78000" y="2540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Веб-застосунок для моніторингу</a:t>
            </a:r>
            <a:endParaRPr lang="en-US" sz="4800" dirty="0"/>
          </a:p>
          <a:p>
            <a:pPr algn="ctr">
              <a:lnSpc>
                <a:spcPct val="13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прогресу пацієнта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3048000" y="4699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uk-UA" sz="20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Кваліфікаційна робота бакалавра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78000" y="53213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Виконав:</a:t>
            </a:r>
            <a:r>
              <a:rPr lang="en-US" sz="1800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студент гр. ПЗПІ-22-9, </a:t>
            </a:r>
            <a:r>
              <a:rPr lang="uk-UA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Олексій РЕЗНІКОВ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Керівник:</a:t>
            </a:r>
            <a:r>
              <a:rPr lang="en-US" sz="1800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ст. </a:t>
            </a:r>
            <a:r>
              <a:rPr lang="uk-UA" dirty="0" err="1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викл</a:t>
            </a:r>
            <a:r>
              <a:rPr lang="uk-UA" dirty="0">
                <a:solidFill>
                  <a:srgbClr val="D0D0D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. Ірина АГЕКЯН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78000" y="81280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uk-UA" sz="1600" dirty="0">
                <a:solidFill>
                  <a:srgbClr val="A0A0A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Харківський національний університет радіоелектроніки</a:t>
            </a:r>
            <a:r>
              <a:rPr lang="en-US" sz="1600" dirty="0">
                <a:solidFill>
                  <a:srgbClr val="A0A0A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· 202</a:t>
            </a:r>
            <a:r>
              <a:rPr lang="uk-UA" sz="1600" dirty="0">
                <a:solidFill>
                  <a:srgbClr val="A0A0A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6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00B776-FE57-4254-AB09-6842E202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22469"/>
            <a:ext cx="2926080" cy="7716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Мета роботи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7620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635250"/>
            <a:ext cx="6858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Розробити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сучасн</a:t>
            </a:r>
            <a:r>
              <a:rPr lang="uk-UA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ий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веб-застосунку на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React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та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Next.js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контролю реабілітації пацієнтів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Забезпеч</a:t>
            </a:r>
            <a:r>
              <a:rPr lang="uk-UA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ити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лікарів зручним інструментом для перевірки динаміки відновлення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Розро</a:t>
            </a:r>
            <a:r>
              <a:rPr lang="uk-UA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бити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особисти</a:t>
            </a:r>
            <a:r>
              <a:rPr lang="uk-UA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й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кабінет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запису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щоденних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показників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7780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840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214114"/>
                </a:moveTo>
                <a:lnTo>
                  <a:pt x="478234" y="172839"/>
                </a:lnTo>
                <a:cubicBezTo>
                  <a:pt x="428625" y="104180"/>
                  <a:pt x="349052" y="63500"/>
                  <a:pt x="264120" y="63500"/>
                </a:cubicBezTo>
                <a:cubicBezTo>
                  <a:pt x="118269" y="63500"/>
                  <a:pt x="0" y="181769"/>
                  <a:pt x="0" y="327620"/>
                </a:cubicBezTo>
                <a:lnTo>
                  <a:pt x="0" y="332780"/>
                </a:lnTo>
                <a:cubicBezTo>
                  <a:pt x="0" y="379611"/>
                  <a:pt x="12303" y="428030"/>
                  <a:pt x="32941" y="476250"/>
                </a:cubicBezTo>
                <a:lnTo>
                  <a:pt x="243284" y="476250"/>
                </a:lnTo>
                <a:cubicBezTo>
                  <a:pt x="249634" y="476250"/>
                  <a:pt x="255389" y="472480"/>
                  <a:pt x="257969" y="466527"/>
                </a:cubicBezTo>
                <a:lnTo>
                  <a:pt x="321072" y="315119"/>
                </a:lnTo>
                <a:cubicBezTo>
                  <a:pt x="328414" y="297656"/>
                  <a:pt x="345480" y="286147"/>
                  <a:pt x="364331" y="285750"/>
                </a:cubicBezTo>
                <a:cubicBezTo>
                  <a:pt x="383183" y="285353"/>
                  <a:pt x="400645" y="296466"/>
                  <a:pt x="408384" y="313730"/>
                </a:cubicBezTo>
                <a:lnTo>
                  <a:pt x="510183" y="539750"/>
                </a:lnTo>
                <a:lnTo>
                  <a:pt x="592336" y="375444"/>
                </a:lnTo>
                <a:cubicBezTo>
                  <a:pt x="600472" y="359370"/>
                  <a:pt x="616942" y="349052"/>
                  <a:pt x="635000" y="349052"/>
                </a:cubicBezTo>
                <a:cubicBezTo>
                  <a:pt x="653058" y="349052"/>
                  <a:pt x="669528" y="359172"/>
                  <a:pt x="677664" y="375444"/>
                </a:cubicBezTo>
                <a:lnTo>
                  <a:pt x="723702" y="467320"/>
                </a:lnTo>
                <a:cubicBezTo>
                  <a:pt x="726480" y="472678"/>
                  <a:pt x="731838" y="476052"/>
                  <a:pt x="737989" y="476052"/>
                </a:cubicBezTo>
                <a:lnTo>
                  <a:pt x="983258" y="476052"/>
                </a:lnTo>
                <a:cubicBezTo>
                  <a:pt x="1004094" y="427831"/>
                  <a:pt x="1016198" y="379413"/>
                  <a:pt x="1016198" y="332581"/>
                </a:cubicBezTo>
                <a:lnTo>
                  <a:pt x="1016198" y="327422"/>
                </a:lnTo>
                <a:cubicBezTo>
                  <a:pt x="1016000" y="181769"/>
                  <a:pt x="897731" y="63500"/>
                  <a:pt x="751880" y="63500"/>
                </a:cubicBezTo>
                <a:cubicBezTo>
                  <a:pt x="667147" y="63500"/>
                  <a:pt x="587375" y="104180"/>
                  <a:pt x="537766" y="172839"/>
                </a:cubicBezTo>
                <a:lnTo>
                  <a:pt x="508000" y="213916"/>
                </a:lnTo>
                <a:close/>
                <a:moveTo>
                  <a:pt x="931863" y="571500"/>
                </a:moveTo>
                <a:lnTo>
                  <a:pt x="737791" y="571500"/>
                </a:lnTo>
                <a:cubicBezTo>
                  <a:pt x="695722" y="571500"/>
                  <a:pt x="657225" y="547688"/>
                  <a:pt x="638373" y="509984"/>
                </a:cubicBezTo>
                <a:lnTo>
                  <a:pt x="635000" y="503238"/>
                </a:lnTo>
                <a:lnTo>
                  <a:pt x="550664" y="672108"/>
                </a:lnTo>
                <a:cubicBezTo>
                  <a:pt x="542528" y="688578"/>
                  <a:pt x="525463" y="698897"/>
                  <a:pt x="507008" y="698500"/>
                </a:cubicBezTo>
                <a:cubicBezTo>
                  <a:pt x="488553" y="698103"/>
                  <a:pt x="472083" y="687189"/>
                  <a:pt x="464542" y="670520"/>
                </a:cubicBezTo>
                <a:lnTo>
                  <a:pt x="366713" y="453231"/>
                </a:lnTo>
                <a:lnTo>
                  <a:pt x="345877" y="503237"/>
                </a:lnTo>
                <a:cubicBezTo>
                  <a:pt x="328613" y="544711"/>
                  <a:pt x="288131" y="571698"/>
                  <a:pt x="243284" y="571698"/>
                </a:cubicBezTo>
                <a:lnTo>
                  <a:pt x="84138" y="571698"/>
                </a:lnTo>
                <a:cubicBezTo>
                  <a:pt x="177800" y="718145"/>
                  <a:pt x="328216" y="852884"/>
                  <a:pt x="422275" y="924719"/>
                </a:cubicBezTo>
                <a:cubicBezTo>
                  <a:pt x="446881" y="943372"/>
                  <a:pt x="477044" y="952698"/>
                  <a:pt x="507802" y="952698"/>
                </a:cubicBezTo>
                <a:cubicBezTo>
                  <a:pt x="538559" y="952698"/>
                  <a:pt x="568920" y="943570"/>
                  <a:pt x="593328" y="924719"/>
                </a:cubicBezTo>
                <a:cubicBezTo>
                  <a:pt x="687784" y="852686"/>
                  <a:pt x="838200" y="717947"/>
                  <a:pt x="931863" y="5715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0" y="419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Моніторинг здоров'я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52000" y="44196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Контроль реабілітації в реальному часі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7112000"/>
            <a:ext cx="14224000" cy="1016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24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7239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Ключова мета: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створити комплексну платформу для ефективного моніторингу реабілітації пацієнтів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 err="1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Постановка</a:t>
            </a: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задачі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14224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32000"/>
            <a:ext cx="1346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Розробити комплексну веб-платформу для безперервного моніторингу процесу реабілітації пацієнтів, яка включає: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Клієнтський застосунок із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розмежуванням доступу за ролями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(адміністратор, лікар, пацієнт)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Інтерактивний конструктор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лікувальних програм для створення індивідуальних курсів реабілітації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Інтегровану систему штучного інтелекту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попереднього аналізу скарг та рекомендацій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Постійний збір показників самопочуття, динаміки рівня болю та прогресу виконання вправ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Генерацію детальної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аналітики та візуалізацію даних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швидкої оцінки результатів одужання лікарем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7112000"/>
            <a:ext cx="14224000" cy="1016000"/>
          </a:xfrm>
          <a:prstGeom prst="roundRect">
            <a:avLst>
              <a:gd name="adj" fmla="val 8000"/>
            </a:avLst>
          </a:prstGeom>
          <a:solidFill>
            <a:srgbClr val="1C4D5F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1956" y="31750"/>
                </a:moveTo>
                <a:lnTo>
                  <a:pt x="423333" y="31750"/>
                </a:lnTo>
                <a:cubicBezTo>
                  <a:pt x="470032" y="31750"/>
                  <a:pt x="508000" y="60226"/>
                  <a:pt x="508000" y="95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37968" y="31750"/>
                  <a:pt x="84667" y="31750"/>
                </a:cubicBezTo>
                <a:lnTo>
                  <a:pt x="96044" y="31750"/>
                </a:lnTo>
                <a:cubicBezTo>
                  <a:pt x="110596" y="12799"/>
                  <a:pt x="137980" y="0"/>
                  <a:pt x="169333" y="0"/>
                </a:cubicBezTo>
                <a:lnTo>
                  <a:pt x="338667" y="0"/>
                </a:lnTo>
                <a:cubicBezTo>
                  <a:pt x="370020" y="0"/>
                  <a:pt x="397404" y="12799"/>
                  <a:pt x="411956" y="31750"/>
                </a:cubicBezTo>
                <a:close/>
                <a:moveTo>
                  <a:pt x="328083" y="111125"/>
                </a:moveTo>
                <a:cubicBezTo>
                  <a:pt x="345678" y="111125"/>
                  <a:pt x="359833" y="100509"/>
                  <a:pt x="359833" y="87313"/>
                </a:cubicBezTo>
                <a:cubicBezTo>
                  <a:pt x="359833" y="74116"/>
                  <a:pt x="345678" y="63500"/>
                  <a:pt x="328083" y="63500"/>
                </a:cubicBezTo>
                <a:lnTo>
                  <a:pt x="179917" y="63500"/>
                </a:lnTo>
                <a:cubicBezTo>
                  <a:pt x="162322" y="63500"/>
                  <a:pt x="148167" y="74116"/>
                  <a:pt x="148167" y="87313"/>
                </a:cubicBezTo>
                <a:cubicBezTo>
                  <a:pt x="148167" y="100509"/>
                  <a:pt x="162322" y="111125"/>
                  <a:pt x="179917" y="111125"/>
                </a:cubicBezTo>
                <a:lnTo>
                  <a:pt x="328083" y="111125"/>
                </a:lnTo>
                <a:close/>
                <a:moveTo>
                  <a:pt x="169333" y="254000"/>
                </a:moveTo>
                <a:cubicBezTo>
                  <a:pt x="169333" y="236477"/>
                  <a:pt x="150364" y="222250"/>
                  <a:pt x="127000" y="222250"/>
                </a:cubicBezTo>
                <a:cubicBezTo>
                  <a:pt x="103636" y="222250"/>
                  <a:pt x="84667" y="236477"/>
                  <a:pt x="84667" y="254000"/>
                </a:cubicBezTo>
                <a:cubicBezTo>
                  <a:pt x="84667" y="271523"/>
                  <a:pt x="103636" y="285750"/>
                  <a:pt x="127000" y="285750"/>
                </a:cubicBezTo>
                <a:cubicBezTo>
                  <a:pt x="150364" y="285750"/>
                  <a:pt x="169333" y="271523"/>
                  <a:pt x="169333" y="254000"/>
                </a:cubicBezTo>
                <a:close/>
                <a:moveTo>
                  <a:pt x="211667" y="254000"/>
                </a:moveTo>
                <a:cubicBezTo>
                  <a:pt x="211667" y="267196"/>
                  <a:pt x="225822" y="277813"/>
                  <a:pt x="243417" y="277813"/>
                </a:cubicBezTo>
                <a:lnTo>
                  <a:pt x="391583" y="277813"/>
                </a:lnTo>
                <a:cubicBezTo>
                  <a:pt x="409178" y="277813"/>
                  <a:pt x="423333" y="267196"/>
                  <a:pt x="423333" y="254000"/>
                </a:cubicBezTo>
                <a:cubicBezTo>
                  <a:pt x="423333" y="240804"/>
                  <a:pt x="409178" y="230188"/>
                  <a:pt x="391583" y="230188"/>
                </a:cubicBezTo>
                <a:lnTo>
                  <a:pt x="243417" y="230188"/>
                </a:lnTo>
                <a:cubicBezTo>
                  <a:pt x="225822" y="230188"/>
                  <a:pt x="211667" y="240804"/>
                  <a:pt x="211667" y="254000"/>
                </a:cubicBezTo>
                <a:close/>
                <a:moveTo>
                  <a:pt x="211667" y="381000"/>
                </a:moveTo>
                <a:cubicBezTo>
                  <a:pt x="211667" y="394196"/>
                  <a:pt x="225822" y="404813"/>
                  <a:pt x="243417" y="404813"/>
                </a:cubicBezTo>
                <a:lnTo>
                  <a:pt x="391583" y="404813"/>
                </a:lnTo>
                <a:cubicBezTo>
                  <a:pt x="409178" y="404813"/>
                  <a:pt x="423333" y="394196"/>
                  <a:pt x="423333" y="381000"/>
                </a:cubicBezTo>
                <a:cubicBezTo>
                  <a:pt x="423333" y="367804"/>
                  <a:pt x="409178" y="357188"/>
                  <a:pt x="391583" y="357188"/>
                </a:cubicBezTo>
                <a:lnTo>
                  <a:pt x="243417" y="357188"/>
                </a:lnTo>
                <a:cubicBezTo>
                  <a:pt x="225822" y="357188"/>
                  <a:pt x="211667" y="367804"/>
                  <a:pt x="211667" y="381000"/>
                </a:cubicBezTo>
                <a:close/>
                <a:moveTo>
                  <a:pt x="127000" y="412750"/>
                </a:moveTo>
                <a:cubicBezTo>
                  <a:pt x="150364" y="412750"/>
                  <a:pt x="169333" y="398523"/>
                  <a:pt x="169333" y="381000"/>
                </a:cubicBezTo>
                <a:cubicBezTo>
                  <a:pt x="169333" y="363477"/>
                  <a:pt x="150364" y="349250"/>
                  <a:pt x="127000" y="349250"/>
                </a:cubicBezTo>
                <a:cubicBezTo>
                  <a:pt x="103636" y="349250"/>
                  <a:pt x="84667" y="363477"/>
                  <a:pt x="84667" y="381000"/>
                </a:cubicBezTo>
                <a:cubicBezTo>
                  <a:pt x="84667" y="398523"/>
                  <a:pt x="103636" y="412750"/>
                  <a:pt x="127000" y="412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72390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Задача: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об'єднати функціональність щоденників, панелі лікаря та аналітики в одній системі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Аналіз предметної галузі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16000" y="1397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Традиційні методи (паперові записи, усні опитування) застаріли. Сучасні медичні установи потребують цифрового аналізу.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457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2349500"/>
            <a:ext cx="4572000" cy="762000"/>
          </a:xfrm>
          <a:prstGeom prst="roundRect">
            <a:avLst>
              <a:gd name="adj" fmla="val 8000"/>
            </a:avLst>
          </a:prstGeom>
          <a:solidFill>
            <a:srgbClr val="8A857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349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Physitrack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3302000"/>
            <a:ext cx="406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Професійна медична платформа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Широкий функціонал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Надто складна система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Висока вартість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Складне впровадження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2349500"/>
            <a:ext cx="457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42000" y="2349500"/>
            <a:ext cx="4572000" cy="762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2349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MyFitnessPal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3302000"/>
            <a:ext cx="406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Простий інтерфейс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Зручний для користувачів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Відсутня медична специфіка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Більше для фітнесу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Немає зв'язку з лікарем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349500"/>
            <a:ext cx="457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68000" y="2349500"/>
            <a:ext cx="4572000" cy="762000"/>
          </a:xfrm>
          <a:prstGeom prst="roundRect">
            <a:avLst>
              <a:gd name="adj" fmla="val 8000"/>
            </a:avLst>
          </a:prstGeom>
          <a:solidFill>
            <a:srgbClr val="6B8E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0" y="2349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Google Fit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3302000"/>
            <a:ext cx="406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Гарна візуалізація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✓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Інтеграція з пристроями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Немає взаємодії лікар-пацієнт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Загальний фітнес-фокус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✗</a:t>
            </a: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Обмежена медична аналітика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7048500"/>
            <a:ext cx="14224000" cy="1016000"/>
          </a:xfrm>
          <a:prstGeom prst="roundRect">
            <a:avLst>
              <a:gd name="adj" fmla="val 8000"/>
            </a:avLst>
          </a:prstGeom>
          <a:solidFill>
            <a:srgbClr val="1C4D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730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71755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Наше рішення: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поєднання простого інтерфейсу щоденників, панелі лікаря та розширеної аналітики в одному застосунку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Архітектура та стек технологій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587500" y="1648460"/>
            <a:ext cx="12700000" cy="647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705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15100" y="3384550"/>
            <a:ext cx="2374899" cy="2374899"/>
          </a:xfrm>
          <a:prstGeom prst="ellipse">
            <a:avLst/>
          </a:prstGeom>
          <a:gradFill flip="none" rotWithShape="1">
            <a:gsLst>
              <a:gs pos="0">
                <a:srgbClr val="1C4D5F"/>
              </a:gs>
              <a:gs pos="100000">
                <a:srgbClr val="E07A5F"/>
              </a:gs>
            </a:gsLst>
            <a:path path="circle"/>
          </a:gradFill>
          <a:ln/>
        </p:spPr>
      </p:sp>
      <p:sp>
        <p:nvSpPr>
          <p:cNvPr id="5" name="Shape 3"/>
          <p:cNvSpPr/>
          <p:nvPr/>
        </p:nvSpPr>
        <p:spPr>
          <a:xfrm>
            <a:off x="7227569" y="3937000"/>
            <a:ext cx="949960" cy="94996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306288"/>
                </a:moveTo>
                <a:cubicBezTo>
                  <a:pt x="736827" y="320873"/>
                  <a:pt x="707912" y="332631"/>
                  <a:pt x="677806" y="342007"/>
                </a:cubicBezTo>
                <a:cubicBezTo>
                  <a:pt x="597864" y="367010"/>
                  <a:pt x="492919" y="381000"/>
                  <a:pt x="381000" y="381000"/>
                </a:cubicBezTo>
                <a:cubicBezTo>
                  <a:pt x="269081" y="381000"/>
                  <a:pt x="163966" y="366861"/>
                  <a:pt x="84194" y="342007"/>
                </a:cubicBezTo>
                <a:cubicBezTo>
                  <a:pt x="54258" y="332631"/>
                  <a:pt x="25173" y="320873"/>
                  <a:pt x="0" y="306288"/>
                </a:cubicBezTo>
                <a:lnTo>
                  <a:pt x="0" y="428625"/>
                </a:lnTo>
                <a:cubicBezTo>
                  <a:pt x="0" y="494407"/>
                  <a:pt x="170600" y="547687"/>
                  <a:pt x="381000" y="547687"/>
                </a:cubicBezTo>
                <a:cubicBezTo>
                  <a:pt x="591400" y="547687"/>
                  <a:pt x="762000" y="494407"/>
                  <a:pt x="762000" y="428625"/>
                </a:cubicBezTo>
                <a:lnTo>
                  <a:pt x="762000" y="306288"/>
                </a:lnTo>
                <a:close/>
                <a:moveTo>
                  <a:pt x="762000" y="190500"/>
                </a:moveTo>
                <a:lnTo>
                  <a:pt x="762000" y="119063"/>
                </a:lnTo>
                <a:cubicBezTo>
                  <a:pt x="762000" y="53280"/>
                  <a:pt x="591400" y="0"/>
                  <a:pt x="381000" y="0"/>
                </a:cubicBezTo>
                <a:cubicBezTo>
                  <a:pt x="170600" y="0"/>
                  <a:pt x="0" y="53280"/>
                  <a:pt x="0" y="119063"/>
                </a:cubicBezTo>
                <a:lnTo>
                  <a:pt x="0" y="190500"/>
                </a:lnTo>
                <a:cubicBezTo>
                  <a:pt x="0" y="256282"/>
                  <a:pt x="170600" y="309563"/>
                  <a:pt x="381000" y="309563"/>
                </a:cubicBezTo>
                <a:cubicBezTo>
                  <a:pt x="591400" y="309563"/>
                  <a:pt x="762000" y="256282"/>
                  <a:pt x="762000" y="190500"/>
                </a:cubicBezTo>
                <a:close/>
                <a:moveTo>
                  <a:pt x="677806" y="580132"/>
                </a:moveTo>
                <a:cubicBezTo>
                  <a:pt x="598034" y="604986"/>
                  <a:pt x="493089" y="619125"/>
                  <a:pt x="381000" y="619125"/>
                </a:cubicBezTo>
                <a:cubicBezTo>
                  <a:pt x="268911" y="619125"/>
                  <a:pt x="163966" y="604986"/>
                  <a:pt x="84194" y="580132"/>
                </a:cubicBezTo>
                <a:cubicBezTo>
                  <a:pt x="54258" y="570756"/>
                  <a:pt x="25173" y="558998"/>
                  <a:pt x="0" y="544413"/>
                </a:cubicBezTo>
                <a:lnTo>
                  <a:pt x="0" y="642938"/>
                </a:lnTo>
                <a:cubicBezTo>
                  <a:pt x="0" y="708720"/>
                  <a:pt x="170600" y="762000"/>
                  <a:pt x="381000" y="762000"/>
                </a:cubicBezTo>
                <a:cubicBezTo>
                  <a:pt x="591400" y="762000"/>
                  <a:pt x="762000" y="708720"/>
                  <a:pt x="762000" y="642938"/>
                </a:cubicBezTo>
                <a:lnTo>
                  <a:pt x="762000" y="544413"/>
                </a:lnTo>
                <a:cubicBezTo>
                  <a:pt x="736827" y="558998"/>
                  <a:pt x="707912" y="570756"/>
                  <a:pt x="677806" y="5801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15100" y="4781551"/>
            <a:ext cx="2374899" cy="63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Next.js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53000" y="3175000"/>
            <a:ext cx="222250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696200" y="2908300"/>
            <a:ext cx="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H="1">
            <a:off x="8382000" y="3175000"/>
            <a:ext cx="152400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4953000" y="5588000"/>
            <a:ext cx="222250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683500" y="5732358"/>
            <a:ext cx="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H="1" flipV="1">
            <a:off x="8382000" y="5588000"/>
            <a:ext cx="1524000" cy="53340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048000" y="2032000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048000" y="20320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Frontend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React + TypeScript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04000" y="1945429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6B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0" y="1945429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Стилізація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Tailwind CSS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31400" y="2032000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1C4D5F"/>
          </a:solidFill>
          <a:ln/>
        </p:spPr>
      </p:sp>
      <p:sp>
        <p:nvSpPr>
          <p:cNvPr id="18" name="Text 16"/>
          <p:cNvSpPr/>
          <p:nvPr/>
        </p:nvSpPr>
        <p:spPr>
          <a:xfrm>
            <a:off x="9931400" y="20320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Автентифікація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NextAuth.js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8000" y="6096000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8A857D"/>
          </a:solidFill>
          <a:ln/>
        </p:spPr>
      </p:sp>
      <p:sp>
        <p:nvSpPr>
          <p:cNvPr id="20" name="Text 18"/>
          <p:cNvSpPr/>
          <p:nvPr/>
        </p:nvSpPr>
        <p:spPr>
          <a:xfrm>
            <a:off x="3048000" y="60960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База даних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MongoDB + Mongoose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04000" y="6240358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604000" y="6240358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Візуалізація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Chart.js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0" y="6146800"/>
            <a:ext cx="2159000" cy="1143000"/>
          </a:xfrm>
          <a:prstGeom prst="roundRect">
            <a:avLst>
              <a:gd name="adj" fmla="val 10000"/>
            </a:avLst>
          </a:prstGeom>
          <a:solidFill>
            <a:srgbClr val="6B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9931400" y="60960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Стан</a:t>
            </a:r>
            <a:endParaRPr lang="en-US" sz="18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Zustand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Реалізація — Розмежування прав доступу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5588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95500"/>
            <a:ext cx="482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Для безпеки впроваджено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Middleware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яке автоматично перевіряє роль користувача та надає доступ лише до відповідних панелей.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Підтримувані ролі: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97000" y="4762500"/>
            <a:ext cx="1524000" cy="482600"/>
          </a:xfrm>
          <a:prstGeom prst="roundRect">
            <a:avLst>
              <a:gd name="adj" fmla="val 10000"/>
            </a:avLst>
          </a:prstGeom>
          <a:solidFill>
            <a:srgbClr val="1C4D5F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4762500"/>
            <a:ext cx="15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admin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0" y="4762500"/>
            <a:ext cx="1524000" cy="4826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3175000" y="4762500"/>
            <a:ext cx="15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doctor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3000" y="4762500"/>
            <a:ext cx="1270000" cy="482600"/>
          </a:xfrm>
          <a:prstGeom prst="roundRect">
            <a:avLst>
              <a:gd name="adj" fmla="val 10000"/>
            </a:avLst>
          </a:prstGeom>
          <a:solidFill>
            <a:srgbClr val="6B8E23"/>
          </a:solidFill>
          <a:ln/>
        </p:spPr>
      </p:sp>
      <p:sp>
        <p:nvSpPr>
          <p:cNvPr id="10" name="Text 8"/>
          <p:cNvSpPr/>
          <p:nvPr/>
        </p:nvSpPr>
        <p:spPr>
          <a:xfrm>
            <a:off x="4953000" y="4762500"/>
            <a:ext cx="12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patient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02000" y="5715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1C4D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6731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Автоматична перевірка токена та ролі при кожному запиті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000" y="1778000"/>
            <a:ext cx="8128000" cy="6350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  <a:effectLst>
            <a:outerShdw blurRad="127000" dist="508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12000" y="1778000"/>
            <a:ext cx="8128000" cy="508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15" name="Text 13"/>
          <p:cNvSpPr/>
          <p:nvPr/>
        </p:nvSpPr>
        <p:spPr>
          <a:xfrm>
            <a:off x="7366000" y="177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BD2E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27C93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90000" y="177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middleware.ts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6000" y="2476500"/>
            <a:ext cx="7620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{ withAuth }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"next-auth/middleware"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{ NextResponse }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"next/server"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export default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withAuth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middleware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(req)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token = req.nextauth.token;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path = req.nextUrl.pathname;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(path.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startsWith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"/doctor"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&amp;&amp; token?.role !==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"doctor"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NextResponse.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redirect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new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URL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"/login"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req.url)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6A9955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// Аналогічно для пацієнтів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6A9955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// та адміністраторів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});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Реалізація — Інтеграція ШІ для аналізу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5588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95500"/>
            <a:ext cx="482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Під час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онбордінгу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пацієнт заповнює скарги, після чого система звертається до нейромережі (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Google Generative AI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 для надання попереднього висновку.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Аналіз симптомів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Визначення спеціалізації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Попередня рекомендація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02000" y="6223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8594" y="83344"/>
                </a:moveTo>
                <a:cubicBezTo>
                  <a:pt x="178594" y="37356"/>
                  <a:pt x="215950" y="0"/>
                  <a:pt x="261938" y="0"/>
                </a:cubicBezTo>
                <a:lnTo>
                  <a:pt x="297656" y="0"/>
                </a:lnTo>
                <a:cubicBezTo>
                  <a:pt x="323999" y="0"/>
                  <a:pt x="345281" y="21282"/>
                  <a:pt x="345281" y="47625"/>
                </a:cubicBezTo>
                <a:lnTo>
                  <a:pt x="345281" y="714375"/>
                </a:lnTo>
                <a:cubicBezTo>
                  <a:pt x="345281" y="740718"/>
                  <a:pt x="323999" y="762000"/>
                  <a:pt x="297656" y="762000"/>
                </a:cubicBezTo>
                <a:lnTo>
                  <a:pt x="250031" y="762000"/>
                </a:lnTo>
                <a:cubicBezTo>
                  <a:pt x="205680" y="762000"/>
                  <a:pt x="168325" y="731639"/>
                  <a:pt x="157758" y="690563"/>
                </a:cubicBezTo>
                <a:cubicBezTo>
                  <a:pt x="156716" y="690563"/>
                  <a:pt x="155823" y="690563"/>
                  <a:pt x="154781" y="690563"/>
                </a:cubicBezTo>
                <a:cubicBezTo>
                  <a:pt x="88999" y="690563"/>
                  <a:pt x="35719" y="637282"/>
                  <a:pt x="35719" y="571500"/>
                </a:cubicBezTo>
                <a:cubicBezTo>
                  <a:pt x="35719" y="544711"/>
                  <a:pt x="44648" y="520005"/>
                  <a:pt x="59531" y="500063"/>
                </a:cubicBezTo>
                <a:cubicBezTo>
                  <a:pt x="30659" y="478334"/>
                  <a:pt x="11906" y="443805"/>
                  <a:pt x="11906" y="404813"/>
                </a:cubicBezTo>
                <a:cubicBezTo>
                  <a:pt x="11906" y="358825"/>
                  <a:pt x="38100" y="318790"/>
                  <a:pt x="76200" y="298996"/>
                </a:cubicBezTo>
                <a:cubicBezTo>
                  <a:pt x="65633" y="281136"/>
                  <a:pt x="59531" y="260300"/>
                  <a:pt x="59531" y="238125"/>
                </a:cubicBezTo>
                <a:cubicBezTo>
                  <a:pt x="59531" y="172343"/>
                  <a:pt x="112812" y="119063"/>
                  <a:pt x="178594" y="119063"/>
                </a:cubicBezTo>
                <a:lnTo>
                  <a:pt x="178594" y="83344"/>
                </a:lnTo>
                <a:close/>
                <a:moveTo>
                  <a:pt x="583406" y="83344"/>
                </a:moveTo>
                <a:lnTo>
                  <a:pt x="583406" y="119063"/>
                </a:lnTo>
                <a:cubicBezTo>
                  <a:pt x="649188" y="119063"/>
                  <a:pt x="702469" y="172343"/>
                  <a:pt x="702469" y="238125"/>
                </a:cubicBezTo>
                <a:cubicBezTo>
                  <a:pt x="702469" y="260449"/>
                  <a:pt x="696367" y="281285"/>
                  <a:pt x="685800" y="298996"/>
                </a:cubicBezTo>
                <a:cubicBezTo>
                  <a:pt x="724049" y="318790"/>
                  <a:pt x="750094" y="358676"/>
                  <a:pt x="750094" y="404813"/>
                </a:cubicBezTo>
                <a:cubicBezTo>
                  <a:pt x="750094" y="443805"/>
                  <a:pt x="731341" y="478334"/>
                  <a:pt x="702469" y="500063"/>
                </a:cubicBezTo>
                <a:cubicBezTo>
                  <a:pt x="717352" y="520005"/>
                  <a:pt x="726281" y="544711"/>
                  <a:pt x="726281" y="571500"/>
                </a:cubicBezTo>
                <a:cubicBezTo>
                  <a:pt x="726281" y="637282"/>
                  <a:pt x="673001" y="690563"/>
                  <a:pt x="607219" y="690563"/>
                </a:cubicBezTo>
                <a:cubicBezTo>
                  <a:pt x="606177" y="690563"/>
                  <a:pt x="605284" y="690563"/>
                  <a:pt x="604242" y="690563"/>
                </a:cubicBezTo>
                <a:cubicBezTo>
                  <a:pt x="593675" y="731639"/>
                  <a:pt x="556320" y="762000"/>
                  <a:pt x="511969" y="762000"/>
                </a:cubicBezTo>
                <a:lnTo>
                  <a:pt x="464344" y="762000"/>
                </a:lnTo>
                <a:cubicBezTo>
                  <a:pt x="438001" y="762000"/>
                  <a:pt x="416719" y="740718"/>
                  <a:pt x="416719" y="714375"/>
                </a:cubicBezTo>
                <a:lnTo>
                  <a:pt x="416719" y="47625"/>
                </a:lnTo>
                <a:cubicBezTo>
                  <a:pt x="416719" y="21282"/>
                  <a:pt x="438001" y="0"/>
                  <a:pt x="464344" y="0"/>
                </a:cubicBezTo>
                <a:lnTo>
                  <a:pt x="500063" y="0"/>
                </a:lnTo>
                <a:cubicBezTo>
                  <a:pt x="546050" y="0"/>
                  <a:pt x="583406" y="37356"/>
                  <a:pt x="583406" y="833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7112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Google Generative AI — швидкий попередній аналіз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12000" y="1778000"/>
            <a:ext cx="8128000" cy="6350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  <a:effectLst>
            <a:outerShdw blurRad="127000" dist="508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12000" y="1778000"/>
            <a:ext cx="8128000" cy="508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7366000" y="177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BD2E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27C93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0000" y="177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route.ts — Google Generative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6000" y="2476500"/>
            <a:ext cx="7620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prompt =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`Ти — медичний асистент.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Проаналізуй дані пацієнта: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Вік: ${age}, Стать: ${gender}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Симптоми: ${symptoms}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Історія: ${medicalHistory}.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Напиши короткий аналіз та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порекомендуй спеціалізацію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лікаря-реабілітолога.`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</a:pP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result =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await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model.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generateContent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(prompt);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aiResponse =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result.response.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text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NextResponse.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json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recommendation: aiResponse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});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Реалізація — Інтерактивний конструктор програм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5588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95500"/>
            <a:ext cx="482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Розроблено інтерфейс для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лікаря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що дозволяє створювати шаблони реабілітаційних курсів.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Додавання вправ до програми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Налаштування підходів і повторень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Призначення фармакологічної підтримки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Збереження через POST /api/programs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02000" y="635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99132" y="54025"/>
                </a:moveTo>
                <a:cubicBezTo>
                  <a:pt x="215354" y="65336"/>
                  <a:pt x="219224" y="87660"/>
                  <a:pt x="207913" y="103733"/>
                </a:cubicBezTo>
                <a:lnTo>
                  <a:pt x="124569" y="222796"/>
                </a:lnTo>
                <a:cubicBezTo>
                  <a:pt x="118467" y="231428"/>
                  <a:pt x="108942" y="236934"/>
                  <a:pt x="98375" y="237827"/>
                </a:cubicBezTo>
                <a:cubicBezTo>
                  <a:pt x="87809" y="238720"/>
                  <a:pt x="77391" y="235148"/>
                  <a:pt x="69949" y="227707"/>
                </a:cubicBezTo>
                <a:lnTo>
                  <a:pt x="10418" y="168176"/>
                </a:lnTo>
                <a:cubicBezTo>
                  <a:pt x="-3423" y="154186"/>
                  <a:pt x="-3423" y="131564"/>
                  <a:pt x="10418" y="117574"/>
                </a:cubicBezTo>
                <a:cubicBezTo>
                  <a:pt x="24259" y="103584"/>
                  <a:pt x="47030" y="103733"/>
                  <a:pt x="61020" y="117574"/>
                </a:cubicBezTo>
                <a:lnTo>
                  <a:pt x="90488" y="147042"/>
                </a:lnTo>
                <a:lnTo>
                  <a:pt x="149423" y="62805"/>
                </a:lnTo>
                <a:cubicBezTo>
                  <a:pt x="160734" y="46583"/>
                  <a:pt x="183059" y="42714"/>
                  <a:pt x="199132" y="54025"/>
                </a:cubicBezTo>
                <a:close/>
                <a:moveTo>
                  <a:pt x="199132" y="292150"/>
                </a:moveTo>
                <a:cubicBezTo>
                  <a:pt x="215354" y="303461"/>
                  <a:pt x="219224" y="325785"/>
                  <a:pt x="207913" y="341858"/>
                </a:cubicBezTo>
                <a:lnTo>
                  <a:pt x="124569" y="460921"/>
                </a:lnTo>
                <a:cubicBezTo>
                  <a:pt x="118467" y="469553"/>
                  <a:pt x="108942" y="475059"/>
                  <a:pt x="98375" y="475952"/>
                </a:cubicBezTo>
                <a:cubicBezTo>
                  <a:pt x="87809" y="476845"/>
                  <a:pt x="77391" y="473273"/>
                  <a:pt x="69949" y="465832"/>
                </a:cubicBezTo>
                <a:lnTo>
                  <a:pt x="10418" y="406301"/>
                </a:lnTo>
                <a:cubicBezTo>
                  <a:pt x="-3572" y="392311"/>
                  <a:pt x="-3572" y="369689"/>
                  <a:pt x="10418" y="355848"/>
                </a:cubicBezTo>
                <a:cubicBezTo>
                  <a:pt x="24408" y="342007"/>
                  <a:pt x="47030" y="341858"/>
                  <a:pt x="60871" y="355848"/>
                </a:cubicBezTo>
                <a:lnTo>
                  <a:pt x="90339" y="385316"/>
                </a:lnTo>
                <a:lnTo>
                  <a:pt x="149275" y="301079"/>
                </a:lnTo>
                <a:cubicBezTo>
                  <a:pt x="160586" y="284857"/>
                  <a:pt x="182910" y="280987"/>
                  <a:pt x="198983" y="292298"/>
                </a:cubicBezTo>
                <a:close/>
                <a:moveTo>
                  <a:pt x="333375" y="142875"/>
                </a:moveTo>
                <a:cubicBezTo>
                  <a:pt x="333375" y="116532"/>
                  <a:pt x="354657" y="95250"/>
                  <a:pt x="381000" y="95250"/>
                </a:cubicBezTo>
                <a:lnTo>
                  <a:pt x="714375" y="95250"/>
                </a:lnTo>
                <a:cubicBezTo>
                  <a:pt x="740718" y="95250"/>
                  <a:pt x="762000" y="116532"/>
                  <a:pt x="762000" y="142875"/>
                </a:cubicBezTo>
                <a:cubicBezTo>
                  <a:pt x="762000" y="169218"/>
                  <a:pt x="740718" y="190500"/>
                  <a:pt x="714375" y="190500"/>
                </a:cubicBezTo>
                <a:lnTo>
                  <a:pt x="381000" y="190500"/>
                </a:lnTo>
                <a:cubicBezTo>
                  <a:pt x="354657" y="190500"/>
                  <a:pt x="333375" y="169218"/>
                  <a:pt x="333375" y="142875"/>
                </a:cubicBezTo>
                <a:close/>
                <a:moveTo>
                  <a:pt x="333375" y="381000"/>
                </a:moveTo>
                <a:cubicBezTo>
                  <a:pt x="333375" y="354657"/>
                  <a:pt x="354657" y="333375"/>
                  <a:pt x="381000" y="333375"/>
                </a:cubicBezTo>
                <a:lnTo>
                  <a:pt x="714375" y="333375"/>
                </a:lnTo>
                <a:cubicBezTo>
                  <a:pt x="740718" y="333375"/>
                  <a:pt x="762000" y="354657"/>
                  <a:pt x="762000" y="381000"/>
                </a:cubicBezTo>
                <a:cubicBezTo>
                  <a:pt x="762000" y="407343"/>
                  <a:pt x="740718" y="428625"/>
                  <a:pt x="714375" y="428625"/>
                </a:cubicBezTo>
                <a:lnTo>
                  <a:pt x="381000" y="428625"/>
                </a:lnTo>
                <a:cubicBezTo>
                  <a:pt x="354657" y="428625"/>
                  <a:pt x="333375" y="407343"/>
                  <a:pt x="333375" y="381000"/>
                </a:cubicBezTo>
                <a:close/>
                <a:moveTo>
                  <a:pt x="238125" y="619125"/>
                </a:moveTo>
                <a:cubicBezTo>
                  <a:pt x="238125" y="592782"/>
                  <a:pt x="259407" y="571500"/>
                  <a:pt x="285750" y="571500"/>
                </a:cubicBezTo>
                <a:lnTo>
                  <a:pt x="714375" y="571500"/>
                </a:lnTo>
                <a:cubicBezTo>
                  <a:pt x="740718" y="571500"/>
                  <a:pt x="762000" y="592782"/>
                  <a:pt x="762000" y="619125"/>
                </a:cubicBezTo>
                <a:cubicBezTo>
                  <a:pt x="762000" y="645468"/>
                  <a:pt x="740718" y="666750"/>
                  <a:pt x="714375" y="666750"/>
                </a:cubicBezTo>
                <a:lnTo>
                  <a:pt x="285750" y="666750"/>
                </a:lnTo>
                <a:cubicBezTo>
                  <a:pt x="259407" y="666750"/>
                  <a:pt x="238125" y="645468"/>
                  <a:pt x="238125" y="619125"/>
                </a:cubicBezTo>
                <a:close/>
                <a:moveTo>
                  <a:pt x="95250" y="559594"/>
                </a:moveTo>
                <a:cubicBezTo>
                  <a:pt x="128106" y="559594"/>
                  <a:pt x="154781" y="586269"/>
                  <a:pt x="154781" y="619125"/>
                </a:cubicBezTo>
                <a:cubicBezTo>
                  <a:pt x="154781" y="651981"/>
                  <a:pt x="128106" y="678656"/>
                  <a:pt x="95250" y="678656"/>
                </a:cubicBezTo>
                <a:cubicBezTo>
                  <a:pt x="62394" y="678656"/>
                  <a:pt x="35719" y="651981"/>
                  <a:pt x="35719" y="619125"/>
                </a:cubicBezTo>
                <a:cubicBezTo>
                  <a:pt x="35719" y="586269"/>
                  <a:pt x="62394" y="559594"/>
                  <a:pt x="95250" y="559594"/>
                </a:cubicBezTo>
                <a:close/>
              </a:path>
            </a:pathLst>
          </a:custGeom>
          <a:solidFill>
            <a:srgbClr val="6B8E23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7175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Гнучке створення індивідуальних курсів реабілітації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12000" y="1778000"/>
            <a:ext cx="8128000" cy="6350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  <a:effectLst>
            <a:outerShdw blurRad="127000" dist="508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12000" y="1778000"/>
            <a:ext cx="8128000" cy="508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7366000" y="177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BD2E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27C93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0000" y="177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page.tsx — Конструктор програм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6000" y="2476500"/>
            <a:ext cx="762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handleAddExercise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= 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exerciseId: </a:t>
            </a:r>
            <a:r>
              <a:rPr lang="en-US" sz="1400" dirty="0">
                <a:solidFill>
                  <a:srgbClr val="4EC9B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title: </a:t>
            </a:r>
            <a:r>
              <a:rPr lang="en-US" sz="1400" dirty="0">
                <a:solidFill>
                  <a:srgbClr val="4EC9B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string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 =&gt;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(!selectedExercises.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find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ex =&gt; ex.exerciseId === exerciseId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))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DCDCA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setSelectedExercises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([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...selectedExercises,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{ exerciseId, title,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  sets: </a:t>
            </a:r>
            <a:r>
              <a:rPr lang="en-US" sz="1400" dirty="0">
                <a:solidFill>
                  <a:srgbClr val="B5CEA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reps: </a:t>
            </a:r>
            <a:r>
              <a:rPr lang="en-US" sz="1400" dirty="0">
                <a:solidFill>
                  <a:srgbClr val="B5CEA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10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]);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};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A9955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// Далі: POST /api/programs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Реалізація — Модуль візуалізації аналітики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5588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95500"/>
            <a:ext cx="4826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Побудовано ізольований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React-компонент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який приймає масиви з медичними даними і відмальовує інтерактивний графік прогресу лікування.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Рівень болю (червона лінія)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Кількість повторень (синя лінія)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Адаптивний дизайн графіка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12000" y="1778000"/>
            <a:ext cx="8128000" cy="6350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  <a:effectLst>
            <a:outerShdw blurRad="127000" dist="508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12000" y="1778000"/>
            <a:ext cx="8128000" cy="508000"/>
          </a:xfrm>
          <a:prstGeom prst="roundRect">
            <a:avLst>
              <a:gd name="adj" fmla="val 8000"/>
            </a:avLst>
          </a:prstGeom>
          <a:solidFill>
            <a:srgbClr val="2D2D2D"/>
          </a:solidFill>
          <a:ln/>
        </p:spPr>
      </p:sp>
      <p:sp>
        <p:nvSpPr>
          <p:cNvPr id="8" name="Text 5"/>
          <p:cNvSpPr/>
          <p:nvPr/>
        </p:nvSpPr>
        <p:spPr>
          <a:xfrm>
            <a:off x="7366000" y="177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FFBD2E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27C93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90000" y="177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PatientChart.tsx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66000" y="2476500"/>
            <a:ext cx="762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PatientChart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: React.FC&lt;ChartProps&gt;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= ({ labels, painData, progressData }) =&gt;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data =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labels,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datasets: [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{ label: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'Рівень болю'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  data: painData,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  borderColor: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'rgb(255,99,132)'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{ label: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'Повторення'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  data: progressData,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  borderColor: </a:t>
            </a:r>
            <a:r>
              <a:rPr lang="en-US" sz="1400" dirty="0">
                <a:solidFill>
                  <a:srgbClr val="CE9178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'rgb(53,162,235)'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]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};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586C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&lt;Line data={data}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options={{ responsive: </a:t>
            </a:r>
            <a:r>
              <a:rPr lang="en-US" sz="1400" dirty="0">
                <a:solidFill>
                  <a:srgbClr val="569CD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true</a:t>
            </a: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}} /&gt;;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D4D4D4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};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B95D2C-70CB-4FAD-B753-DE1E238B3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722513"/>
            <a:ext cx="5588000" cy="30741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Реалізація — Система заявок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14224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3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Життєвий цикл заявки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97000" y="2794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794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Пацієнт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Надсилає запит на приписку до закладу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91000" y="3302000"/>
            <a:ext cx="1016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207000" y="2794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1C4D5F"/>
          </a:solidFill>
          <a:ln/>
        </p:spPr>
      </p:sp>
      <p:sp>
        <p:nvSpPr>
          <p:cNvPr id="9" name="Text 7"/>
          <p:cNvSpPr/>
          <p:nvPr/>
        </p:nvSpPr>
        <p:spPr>
          <a:xfrm>
            <a:off x="5207000" y="2794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Статус: pending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Запит потрапляє на дашборд лікаря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3302000"/>
            <a:ext cx="1016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9017000" y="2794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6B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2794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Лікар схвалює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Огляд та затвердження заявки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11000" y="3302000"/>
            <a:ext cx="1016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827000" y="27940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27000" y="2794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Статус: allowed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Робота з пацієнтом розпочата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" y="4445000"/>
            <a:ext cx="1346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" y="469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Основні можливості системи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6510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5767" y="-23485"/>
                </a:moveTo>
                <a:cubicBezTo>
                  <a:pt x="433546" y="-26610"/>
                  <a:pt x="442119" y="-24378"/>
                  <a:pt x="447993" y="-17859"/>
                </a:cubicBezTo>
                <a:cubicBezTo>
                  <a:pt x="453866" y="-11341"/>
                  <a:pt x="455771" y="-1607"/>
                  <a:pt x="452993" y="7144"/>
                </a:cubicBezTo>
                <a:lnTo>
                  <a:pt x="311706" y="450860"/>
                </a:lnTo>
                <a:cubicBezTo>
                  <a:pt x="307737" y="463272"/>
                  <a:pt x="297339" y="471488"/>
                  <a:pt x="285671" y="471488"/>
                </a:cubicBezTo>
                <a:cubicBezTo>
                  <a:pt x="274399" y="471488"/>
                  <a:pt x="264239" y="463808"/>
                  <a:pt x="260032" y="452110"/>
                </a:cubicBezTo>
                <a:lnTo>
                  <a:pt x="209074" y="311021"/>
                </a:lnTo>
                <a:cubicBezTo>
                  <a:pt x="205502" y="301198"/>
                  <a:pt x="207089" y="289947"/>
                  <a:pt x="213201" y="281910"/>
                </a:cubicBezTo>
                <a:lnTo>
                  <a:pt x="288211" y="181541"/>
                </a:lnTo>
                <a:cubicBezTo>
                  <a:pt x="292259" y="176093"/>
                  <a:pt x="291941" y="168146"/>
                  <a:pt x="287496" y="163145"/>
                </a:cubicBezTo>
                <a:cubicBezTo>
                  <a:pt x="283051" y="158145"/>
                  <a:pt x="275907" y="157788"/>
                  <a:pt x="271145" y="162342"/>
                </a:cubicBezTo>
                <a:lnTo>
                  <a:pt x="181928" y="246549"/>
                </a:lnTo>
                <a:cubicBezTo>
                  <a:pt x="174704" y="253335"/>
                  <a:pt x="164783" y="255121"/>
                  <a:pt x="156051" y="251192"/>
                </a:cubicBezTo>
                <a:lnTo>
                  <a:pt x="30242" y="193596"/>
                </a:lnTo>
                <a:cubicBezTo>
                  <a:pt x="19844" y="188863"/>
                  <a:pt x="13018" y="177433"/>
                  <a:pt x="13018" y="164753"/>
                </a:cubicBezTo>
                <a:cubicBezTo>
                  <a:pt x="13018" y="151626"/>
                  <a:pt x="20320" y="139928"/>
                  <a:pt x="31353" y="135463"/>
                </a:cubicBezTo>
                <a:lnTo>
                  <a:pt x="425767" y="-2348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5397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Подача заявки пацієнтом до обраного медичного закладу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510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0761" y="28575"/>
                </a:moveTo>
                <a:lnTo>
                  <a:pt x="381000" y="28575"/>
                </a:lnTo>
                <a:cubicBezTo>
                  <a:pt x="423029" y="28575"/>
                  <a:pt x="457200" y="54203"/>
                  <a:pt x="457200" y="857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34171" y="28575"/>
                  <a:pt x="76200" y="28575"/>
                </a:cubicBezTo>
                <a:lnTo>
                  <a:pt x="86439" y="28575"/>
                </a:lnTo>
                <a:cubicBezTo>
                  <a:pt x="99536" y="11519"/>
                  <a:pt x="124182" y="0"/>
                  <a:pt x="152400" y="0"/>
                </a:cubicBezTo>
                <a:lnTo>
                  <a:pt x="304800" y="0"/>
                </a:lnTo>
                <a:cubicBezTo>
                  <a:pt x="333018" y="0"/>
                  <a:pt x="357664" y="11519"/>
                  <a:pt x="370761" y="28575"/>
                </a:cubicBezTo>
                <a:close/>
                <a:moveTo>
                  <a:pt x="295275" y="100013"/>
                </a:moveTo>
                <a:cubicBezTo>
                  <a:pt x="311110" y="100013"/>
                  <a:pt x="323850" y="90458"/>
                  <a:pt x="323850" y="78581"/>
                </a:cubicBezTo>
                <a:cubicBezTo>
                  <a:pt x="323850" y="66705"/>
                  <a:pt x="311110" y="57150"/>
                  <a:pt x="295275" y="57150"/>
                </a:cubicBezTo>
                <a:lnTo>
                  <a:pt x="161925" y="57150"/>
                </a:lnTo>
                <a:cubicBezTo>
                  <a:pt x="146090" y="57150"/>
                  <a:pt x="133350" y="66705"/>
                  <a:pt x="133350" y="78581"/>
                </a:cubicBezTo>
                <a:cubicBezTo>
                  <a:pt x="133350" y="90458"/>
                  <a:pt x="146090" y="100013"/>
                  <a:pt x="161925" y="100013"/>
                </a:cubicBezTo>
                <a:lnTo>
                  <a:pt x="295275" y="100013"/>
                </a:lnTo>
                <a:close/>
                <a:moveTo>
                  <a:pt x="329089" y="232797"/>
                </a:moveTo>
                <a:cubicBezTo>
                  <a:pt x="337423" y="222796"/>
                  <a:pt x="333375" y="209580"/>
                  <a:pt x="320040" y="203240"/>
                </a:cubicBezTo>
                <a:cubicBezTo>
                  <a:pt x="306705" y="196900"/>
                  <a:pt x="289084" y="200025"/>
                  <a:pt x="280630" y="210026"/>
                </a:cubicBezTo>
                <a:lnTo>
                  <a:pt x="207526" y="297805"/>
                </a:lnTo>
                <a:lnTo>
                  <a:pt x="175379" y="265658"/>
                </a:lnTo>
                <a:cubicBezTo>
                  <a:pt x="165854" y="256193"/>
                  <a:pt x="147995" y="254228"/>
                  <a:pt x="135374" y="261372"/>
                </a:cubicBezTo>
                <a:cubicBezTo>
                  <a:pt x="122753" y="268516"/>
                  <a:pt x="120134" y="281910"/>
                  <a:pt x="129659" y="291376"/>
                </a:cubicBezTo>
                <a:lnTo>
                  <a:pt x="186809" y="348526"/>
                </a:lnTo>
                <a:cubicBezTo>
                  <a:pt x="192405" y="354151"/>
                  <a:pt x="201454" y="357366"/>
                  <a:pt x="210860" y="357098"/>
                </a:cubicBezTo>
                <a:cubicBezTo>
                  <a:pt x="220266" y="356830"/>
                  <a:pt x="228838" y="353080"/>
                  <a:pt x="233839" y="347008"/>
                </a:cubicBezTo>
                <a:lnTo>
                  <a:pt x="329089" y="232708"/>
                </a:lnTo>
                <a:close/>
              </a:path>
            </a:pathLst>
          </a:custGeom>
          <a:solidFill>
            <a:srgbClr val="1C4D5F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615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Перегляд та управління заявками на дашборді лікаря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6B8E23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5397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Схвалення заявки та розпочаття курсу реабілітації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8A857D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6159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Безпечна перевірка статусу через Middleware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97000" y="7112000"/>
            <a:ext cx="13462000" cy="762000"/>
          </a:xfrm>
          <a:prstGeom prst="roundRect">
            <a:avLst>
              <a:gd name="adj" fmla="val 8000"/>
            </a:avLst>
          </a:prstGeom>
          <a:solidFill>
            <a:srgbClr val="F5F5F0"/>
          </a:solidFill>
          <a:ln w="12700">
            <a:solidFill>
              <a:srgbClr val="1C4D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78000" y="7239000"/>
            <a:ext cx="127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Статуси заявки:</a:t>
            </a:r>
            <a:r>
              <a:rPr lang="en-US" sz="1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pending</a:t>
            </a:r>
            <a:r>
              <a:rPr lang="en-US" sz="1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solidFill>
                  <a:srgbClr val="6B8E2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allowed</a:t>
            </a:r>
            <a:r>
              <a:rPr lang="en-US" sz="1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| Всі переходи логуються для безпеки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Use-Case </a:t>
            </a:r>
            <a:r>
              <a:rPr lang="uk-UA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</a:t>
            </a:r>
            <a:r>
              <a:rPr lang="en-US" sz="3600" dirty="0" err="1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</a:t>
            </a:r>
            <a:r>
              <a:rPr lang="uk-UA" sz="3600" dirty="0" err="1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аграма</a:t>
            </a:r>
            <a:r>
              <a:rPr lang="uk-UA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endParaRPr lang="en-US" sz="3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39E9D75-048D-487C-B32D-5314A66B05E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1420177"/>
            <a:ext cx="11785600" cy="727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Тестування програмного забезпечення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Для тестування застосовано технологію наскрізного (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E2E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 тестування за допомогою фреймворку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Cypress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286000"/>
            <a:ext cx="14224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97000" y="2476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Симульований життєвий цикл: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97000" y="3175000"/>
            <a:ext cx="558800" cy="5588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31750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59000" y="31496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Реєстрація та логін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59000" y="3657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Тестування авторизації лікаря та пацієнта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97000" y="4191000"/>
            <a:ext cx="558800" cy="5588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41910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59000" y="41656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Онбордінг з ШІ-рекомендаціями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59000" y="4673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Генерація рекомендацій на основі скарг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3175000"/>
            <a:ext cx="558800" cy="558800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5" name="Text 13"/>
          <p:cNvSpPr/>
          <p:nvPr/>
        </p:nvSpPr>
        <p:spPr>
          <a:xfrm>
            <a:off x="8128000" y="31750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90000" y="31496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Подача та затвердження заявки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90000" y="3657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Повний цикл заявки від pending до allowed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4191000"/>
            <a:ext cx="558800" cy="558800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41910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90000" y="41656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Створення курсу лікування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90000" y="4673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Конструктор програм та призначення вправ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97000" y="5334000"/>
            <a:ext cx="1346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1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6B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2413000" y="55245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Результат: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Система успішно пройшла всі тести, демонструючи стабільну роботу інтерфейсу та API-маршрутів.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88000" y="6858000"/>
            <a:ext cx="5080000" cy="762000"/>
          </a:xfrm>
          <a:prstGeom prst="roundRect">
            <a:avLst>
              <a:gd name="adj" fmla="val 35000"/>
            </a:avLst>
          </a:prstGeom>
          <a:solidFill>
            <a:srgbClr val="1C4D5F"/>
          </a:solidFill>
          <a:ln/>
        </p:spPr>
      </p:sp>
      <p:sp>
        <p:nvSpPr>
          <p:cNvPr id="26" name="Text 24"/>
          <p:cNvSpPr/>
          <p:nvPr/>
        </p:nvSpPr>
        <p:spPr>
          <a:xfrm>
            <a:off x="5588000" y="6858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Cypress E2E Testing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— 100% пройдено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Висновки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8890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2095500"/>
            <a:ext cx="812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Повністю реалізовано всі складові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веб-застосунку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моніторингу прогресу пацієнтів у реальному часі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Спроєктовано стабільну архітектуру на базі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Next.js, React та MongoDB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що забезпечило швидкість та надійність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Успішно впроваджено модуль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візуалізації даних (Chart.js)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зручного контролю динаміки одужання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Інтерфейс (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Tailwind CSS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) адаптовано для зручного щоденного використання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07A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Додаток має потенціал для інтеграції з </a:t>
            </a: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державними медичними системами (ЕСОЗ)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14000" y="1778000"/>
            <a:ext cx="4826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92000" y="2794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357932" y="0"/>
                </a:moveTo>
                <a:lnTo>
                  <a:pt x="913557" y="0"/>
                </a:lnTo>
                <a:cubicBezTo>
                  <a:pt x="979289" y="0"/>
                  <a:pt x="1032867" y="54074"/>
                  <a:pt x="1030387" y="119559"/>
                </a:cubicBezTo>
                <a:cubicBezTo>
                  <a:pt x="1029891" y="132705"/>
                  <a:pt x="1029395" y="145852"/>
                  <a:pt x="1028650" y="158750"/>
                </a:cubicBezTo>
                <a:lnTo>
                  <a:pt x="1151682" y="158750"/>
                </a:lnTo>
                <a:cubicBezTo>
                  <a:pt x="1216422" y="158750"/>
                  <a:pt x="1273473" y="212328"/>
                  <a:pt x="1268512" y="282277"/>
                </a:cubicBezTo>
                <a:cubicBezTo>
                  <a:pt x="1249908" y="539502"/>
                  <a:pt x="1118443" y="680889"/>
                  <a:pt x="975816" y="754807"/>
                </a:cubicBezTo>
                <a:cubicBezTo>
                  <a:pt x="936625" y="775146"/>
                  <a:pt x="896689" y="790277"/>
                  <a:pt x="858738" y="801439"/>
                </a:cubicBezTo>
                <a:cubicBezTo>
                  <a:pt x="808633" y="872381"/>
                  <a:pt x="756543" y="909836"/>
                  <a:pt x="715119" y="929928"/>
                </a:cubicBezTo>
                <a:lnTo>
                  <a:pt x="715119" y="1111250"/>
                </a:lnTo>
                <a:lnTo>
                  <a:pt x="873869" y="1111250"/>
                </a:lnTo>
                <a:cubicBezTo>
                  <a:pt x="917773" y="1111250"/>
                  <a:pt x="953244" y="1146721"/>
                  <a:pt x="953244" y="1190625"/>
                </a:cubicBezTo>
                <a:cubicBezTo>
                  <a:pt x="953244" y="1234529"/>
                  <a:pt x="917773" y="1270000"/>
                  <a:pt x="873869" y="1270000"/>
                </a:cubicBezTo>
                <a:lnTo>
                  <a:pt x="397619" y="1270000"/>
                </a:lnTo>
                <a:cubicBezTo>
                  <a:pt x="353715" y="1270000"/>
                  <a:pt x="318244" y="1234529"/>
                  <a:pt x="318244" y="1190625"/>
                </a:cubicBezTo>
                <a:cubicBezTo>
                  <a:pt x="318244" y="1146721"/>
                  <a:pt x="353715" y="1111250"/>
                  <a:pt x="397619" y="1111250"/>
                </a:cubicBezTo>
                <a:lnTo>
                  <a:pt x="556369" y="1111250"/>
                </a:lnTo>
                <a:lnTo>
                  <a:pt x="556369" y="929928"/>
                </a:lnTo>
                <a:cubicBezTo>
                  <a:pt x="516682" y="910828"/>
                  <a:pt x="467320" y="875357"/>
                  <a:pt x="419199" y="810121"/>
                </a:cubicBezTo>
                <a:cubicBezTo>
                  <a:pt x="373559" y="798215"/>
                  <a:pt x="323949" y="780107"/>
                  <a:pt x="275580" y="752822"/>
                </a:cubicBezTo>
                <a:cubicBezTo>
                  <a:pt x="141387" y="677664"/>
                  <a:pt x="20340" y="536029"/>
                  <a:pt x="2977" y="281781"/>
                </a:cubicBezTo>
                <a:cubicBezTo>
                  <a:pt x="-1736" y="212080"/>
                  <a:pt x="55066" y="158502"/>
                  <a:pt x="119807" y="158502"/>
                </a:cubicBezTo>
                <a:lnTo>
                  <a:pt x="242838" y="158502"/>
                </a:lnTo>
                <a:cubicBezTo>
                  <a:pt x="242094" y="145604"/>
                  <a:pt x="241598" y="132705"/>
                  <a:pt x="241102" y="119311"/>
                </a:cubicBezTo>
                <a:cubicBezTo>
                  <a:pt x="238621" y="53578"/>
                  <a:pt x="292199" y="-248"/>
                  <a:pt x="357932" y="-248"/>
                </a:cubicBezTo>
                <a:close/>
                <a:moveTo>
                  <a:pt x="251768" y="277813"/>
                </a:moveTo>
                <a:lnTo>
                  <a:pt x="121791" y="277813"/>
                </a:lnTo>
                <a:cubicBezTo>
                  <a:pt x="137170" y="487908"/>
                  <a:pt x="233660" y="593080"/>
                  <a:pt x="333127" y="648891"/>
                </a:cubicBezTo>
                <a:cubicBezTo>
                  <a:pt x="297408" y="556369"/>
                  <a:pt x="267891" y="435570"/>
                  <a:pt x="251768" y="277813"/>
                </a:cubicBezTo>
                <a:close/>
                <a:moveTo>
                  <a:pt x="942578" y="636984"/>
                </a:moveTo>
                <a:cubicBezTo>
                  <a:pt x="1043037" y="577949"/>
                  <a:pt x="1133822" y="473025"/>
                  <a:pt x="1149201" y="277813"/>
                </a:cubicBezTo>
                <a:lnTo>
                  <a:pt x="1019473" y="277813"/>
                </a:lnTo>
                <a:cubicBezTo>
                  <a:pt x="1004094" y="428873"/>
                  <a:pt x="976312" y="546199"/>
                  <a:pt x="942578" y="6369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0" y="4318000"/>
            <a:ext cx="3810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uk-UA" sz="2400" b="1" dirty="0">
                <a:solidFill>
                  <a:srgbClr val="1C4D5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Кваліфікаційна робота бакалавра</a:t>
            </a:r>
          </a:p>
        </p:txBody>
      </p:sp>
      <p:sp>
        <p:nvSpPr>
          <p:cNvPr id="10" name="Shape 8"/>
          <p:cNvSpPr/>
          <p:nvPr/>
        </p:nvSpPr>
        <p:spPr>
          <a:xfrm>
            <a:off x="1016000" y="7366000"/>
            <a:ext cx="14224000" cy="1016000"/>
          </a:xfrm>
          <a:prstGeom prst="roundRect">
            <a:avLst>
              <a:gd name="adj" fmla="val 8000"/>
            </a:avLst>
          </a:prstGeom>
          <a:solidFill>
            <a:srgbClr val="6B8E23"/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755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7429500"/>
            <a:ext cx="1244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Перспектива: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інтеграція з ЕСОЗ, мобільний додаток, розширена аналітика на базі машинного навчання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4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0000" cy="2413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986000" y="7620000"/>
            <a:ext cx="1270000" cy="12700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955800" y="355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Дякую за увагу!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258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Готовий відповісти на ваші запитання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1106</Words>
  <Application>Microsoft Office PowerPoint</Application>
  <PresentationFormat>Custom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Liter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Веб-застосунок для моніторингу прогресу пацієнта</dc:title>
  <dc:subject>Веб-застосунок для моніторингу прогресу пацієнта</dc:subject>
  <dc:creator>Kimi</dc:creator>
  <cp:lastModifiedBy>Егор Сотников</cp:lastModifiedBy>
  <cp:revision>7</cp:revision>
  <dcterms:created xsi:type="dcterms:W3CDTF">2026-07-12T08:20:19Z</dcterms:created>
  <dcterms:modified xsi:type="dcterms:W3CDTF">2026-07-13T18:53:25Z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{"Label":"Веб-застосунок для моніторингу прогресу пацієнта","ContentProducer":"001191110108MACG2KBH8F10000","ProduceID":"19f50c60-4422-8267-8000-0000ddd5fcef","ReservedCode1":"","ContentPropagator":"001191110108MACG2KBH8F20000","PropagateID":"19f50c1b-2d3</vt:lpwstr>
  </property>
</Properties>
</file>